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61" r:id="rId9"/>
    <p:sldId id="266" r:id="rId10"/>
    <p:sldId id="262" r:id="rId11"/>
    <p:sldId id="263" r:id="rId12"/>
    <p:sldId id="267" r:id="rId13"/>
    <p:sldId id="264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目標誤差 ±3%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0.1A</c:v>
                </c:pt>
                <c:pt idx="1">
                  <c:v>0.5A</c:v>
                </c:pt>
                <c:pt idx="2">
                  <c:v>1.5A</c:v>
                </c:pt>
                <c:pt idx="3">
                  <c:v>2.0A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45-4DE0-8088-6685AA19B5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zh-TW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zh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596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SCT-013-000 與 ESP32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6002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交流電流偵測系統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651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低電流家電的非侵入式能源監測與 AIoT 節能解決方案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338328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1B4F72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383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微控制器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338328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1B4F72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3383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SCT-013-000 感測器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338328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1B4F72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3383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邊緣運算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338328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1B4F72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3383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節能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最大量測電流 2.33A RMS　｜　精度 ±3% 以內　｜　1kΩ 高增益設計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7315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報告大綱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" cy="105156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2618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動機與問題背景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7373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浪潮下的能源管理痛點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188720"/>
            <a:ext cx="54864" cy="105156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801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2618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挑戰分析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32120" y="17373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非線性、低信噪比與感測器限制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23160"/>
            <a:ext cx="54864" cy="105156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146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4963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系統設計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9718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硬體電路 + 軟體演算法協同方案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423160"/>
            <a:ext cx="411480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423160"/>
            <a:ext cx="54864" cy="105156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5146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24963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32120" y="29718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 HPF、RMS 計算、連接偵測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57600"/>
            <a:ext cx="54864" cy="105156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7490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實作與驗證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42062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開發環境、測試方法、精度評估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11480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657600"/>
            <a:ext cx="54864" cy="105156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7490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32120" y="37307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結論與未來展望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32120" y="42062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節能成效 15-20% 與智慧化擴充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　動機與問題背景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2004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5214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188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智慧能源管理可降低能耗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32004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29968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8483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121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辦公室空調佔總用電比例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62656"/>
            <a:ext cx="32004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62656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1752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305409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商業建築電力可能被浪費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895344"/>
            <a:ext cx="32004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895344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5020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預估可降低的非必要待機耗電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31920" y="1051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現有痛點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31920" y="1508760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1463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電力消耗是「隱形」數據，難以對症下藥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931920" y="2377440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23317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傳統量測需侵入式接線，觸電風險高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31920" y="3246120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0" y="3200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現有系統缺乏自動設備識別（NILM）能力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931920" y="4114800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40690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低電流家電訊號被雜訊淹沒，難以精準監測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17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本專案目標：低成本 ESP32 + SCT-013 非侵入式感測器，針對 &lt; 2A 低功率家電，實現高精度電流量測與 AIoT 能源管理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628E42E3-C177-6AB9-C13A-35847926CEAC}"/>
              </a:ext>
            </a:extLst>
          </p:cNvPr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　</a:t>
            </a:r>
            <a:r>
              <a:rPr lang="en-US" sz="2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動機與問題背景</a:t>
            </a:r>
            <a:r>
              <a:rPr lang="zh-TW" alt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zh-TW" alt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相關文獻彙整表</a:t>
            </a:r>
            <a:endParaRPr lang="en-US" sz="2600" dirty="0">
              <a:latin typeface="+mj-l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2B9D032-BA87-811D-490F-5470021ED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28392"/>
            <a:ext cx="8686800" cy="350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68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　主要技術挑戰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4114800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795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ADC 非線性失真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analogRead() 存在非線性問題，讀取原始值與實際電壓之間存在偏差，傳統方式精度不足。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411480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143000"/>
            <a:ext cx="41148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795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低電流信號微弱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18488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22Ω 負擔電阻在 &lt; 2A 電流下僅產生數個毫伏訊號，直接隱沒在底部雜訊中，無法有效量測。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53512"/>
            <a:ext cx="411480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953512"/>
            <a:ext cx="4114800" cy="3840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90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DC 偏置處理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ADC 僅讀取 0–3.3V，交流訊號需要 1.65V 虛擬接地抬升，硬體電容精度受限。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953512"/>
            <a:ext cx="411480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953512"/>
            <a:ext cx="411480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990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感測器狀態誤判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SCT-013 拔除時 GPIO 仍透過電路連接偏壓點，ADC 讀到非零值，導致系統誤判已連接。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12B93330-CDDA-0FDA-E94C-3344D7DB2C13}"/>
              </a:ext>
            </a:extLst>
          </p:cNvPr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　</a:t>
            </a:r>
            <a:r>
              <a:rPr lang="en-US" sz="2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主要技術挑戰</a:t>
            </a:r>
            <a:r>
              <a:rPr lang="zh-TW" alt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zh-TW" alt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相關文獻彙整表</a:t>
            </a:r>
            <a:endParaRPr lang="en-US" sz="26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E27288-486B-137E-E85D-E4723C65A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77" y="1013226"/>
            <a:ext cx="8758646" cy="311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0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系統架構概覽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87452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SCT-013-000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非侵入式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電流感測器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48840" y="1664208"/>
            <a:ext cx="320040" cy="20116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1645920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874520" cy="128016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14300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1kΩ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負擔電阻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信號轉換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64208"/>
            <a:ext cx="320040" cy="20116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645920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87452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偏置電路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分壓 + 電容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1.65V 抬升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1664208"/>
            <a:ext cx="320040" cy="20116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645920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1143000"/>
            <a:ext cx="187452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14300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ADC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34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取樣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8595360" cy="3200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7432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軟體演算法模組（ESP32 內部）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201168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數位高通濾波器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3611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動態濾除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1.65V DC 偏置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3108960"/>
            <a:ext cx="201168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電流計算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3611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200ms 窗口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~2000 筆樣本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108960"/>
            <a:ext cx="201168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連接偵測演算法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3611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標準差判斷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 是否接上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3108960"/>
            <a:ext cx="201168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雜訊門檻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3611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0.05A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自動歸零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97112" y="1143000"/>
            <a:ext cx="2011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視在功率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硬體設計 — 關鍵元件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612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ESP32 開發板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18288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16128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34（ADC1，抗 Wi-Fi 干擾）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188720"/>
            <a:ext cx="18288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161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訊號處理中心，12-bit ADC 採樣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85039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385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SCT-013-000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1965960"/>
            <a:ext cx="18288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9385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100A:50mA 電流輸出型，比 2000:1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18288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9385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非侵入夾扣式交流電流感測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157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1kΩ 負擔電阻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2743200"/>
            <a:ext cx="18288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27157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精密金屬膜 ±1%，最大 2.33A RMS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2743200"/>
            <a:ext cx="18288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715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電流轉電壓，信號放大 45 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429000"/>
            <a:ext cx="85039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930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10kΩ 分壓電阻 ×2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3520440"/>
            <a:ext cx="18288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349300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兩顆相同精密電阻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3520440"/>
            <a:ext cx="18288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4930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1.65V 虛擬接地 DC 偏置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20624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702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104 瓷片電容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0" y="4297680"/>
            <a:ext cx="18288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42702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0.1μF（可並聯 2-3 顆）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4297680"/>
            <a:ext cx="18288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270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高頻旁路濾波，穩定偏置中點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4515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關鍵設計：1kΩ 取代 22Ω → 0.5A 時信號從 5.5mV 提升至 250mV，放大 45 倍，大幅改善低電流精度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642C3D6-5687-FABB-4003-561F8C325F4F}"/>
              </a:ext>
            </a:extLst>
          </p:cNvPr>
          <p:cNvSpPr txBox="1"/>
          <p:nvPr/>
        </p:nvSpPr>
        <p:spPr>
          <a:xfrm>
            <a:off x="489857" y="285597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　</a:t>
            </a:r>
            <a:r>
              <a:rPr lang="en-US" altLang="zh-TW" sz="2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硬體設計</a:t>
            </a:r>
            <a:r>
              <a:rPr lang="en-US" altLang="zh-TW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zh-TW" alt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實際線路圖</a:t>
            </a:r>
            <a:endParaRPr lang="en-US" altLang="zh-TW" sz="26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079FF30-CAD1-75B0-F638-4A02E6F91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745" y="778040"/>
            <a:ext cx="5384510" cy="42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12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　核心軟體演算法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02336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4023360" cy="36576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數位高通濾波器（Digital HPF）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y[n] = 0.9961 × (y[n−1] + x[n] − x[n−1])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x[n]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：當前 ADC 採樣毫伏值
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y[n]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：濾波後 AC 成分
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0.9961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：適用 1–2 kHz 取樣率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023360" cy="1828800"/>
          </a:xfrm>
          <a:prstGeom prst="rect">
            <a:avLst/>
          </a:prstGeom>
          <a:solidFill>
            <a:srgbClr val="FFF3F3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51560"/>
            <a:ext cx="402336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 連接偵測（標準差法）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508760"/>
            <a:ext cx="10058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087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未連接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25312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標準差 &lt; 2 mV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938528"/>
            <a:ext cx="100584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9385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已連接（無負載）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25312" y="1938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標準差 &gt; 5 mV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368296"/>
            <a:ext cx="100584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36829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已連接（有負載）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25312" y="2368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標準差 &gt;&gt; 10 mV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6471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取 50 樣本，標準差 &lt; 3mV 判定未連接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8503920" cy="3657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017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電流計算流程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1261872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49300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0040" y="3840480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200ms 取樣窗口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64792" y="3474720"/>
            <a:ext cx="1261872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64792" y="349300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764792" y="3840480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HPF 濾除 DC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9544" y="3474720"/>
            <a:ext cx="1261872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9544" y="349300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209544" y="3840480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樣本平方累加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54296" y="3474720"/>
            <a:ext cx="1261872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349300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54296" y="3840480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開根號 RMS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99048" y="3474720"/>
            <a:ext cx="1261872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99048" y="349300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99048" y="3840480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換算電流值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543800" y="3474720"/>
            <a:ext cx="1261872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349300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43800" y="3840480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雜訊門檻歸零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　評估方法與測試設計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411480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階段一　基準建立（觀察期）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201168" cy="20116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部署系統於辦公 / 家庭環境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201168" cy="20116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無干預地收集電流數據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201168" cy="20116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786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建立空間「基準耗電模型」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201168" cy="20116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358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確立 Baseline 參考值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11480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階段二　介入改善（優化期）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69164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16642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根據數據進行用電洞察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14884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非上班時段繼電器切斷待機設備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60604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25786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實驗結束對比前後兩週用電量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06324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30358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計算節電率與成效評估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36118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精度驗證目標（vs. 數位萬用表）</a:t>
            </a:r>
            <a:endParaRPr lang="en-US" sz="14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320040" y="3977640"/>
          <a:ext cx="850392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CA5C5235-BCE9-B10A-A32A-B8E80E1A6C07}"/>
              </a:ext>
            </a:extLst>
          </p:cNvPr>
          <p:cNvSpPr txBox="1"/>
          <p:nvPr/>
        </p:nvSpPr>
        <p:spPr>
          <a:xfrm>
            <a:off x="529045" y="331317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05　</a:t>
            </a:r>
            <a:r>
              <a:rPr lang="zh-TW" alt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實驗過程圖</a:t>
            </a:r>
            <a:endParaRPr lang="en-US" altLang="zh-TW" sz="26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5A1440B-E939-B8CE-E00A-3647E91E3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94" y="1047012"/>
            <a:ext cx="5189994" cy="387883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1BFB656-DB34-F6CC-E79F-11FF7AA01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988" y="149334"/>
            <a:ext cx="3744761" cy="484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318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　實作挑戰與解決方案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挑戰一：CT 物理量測限制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7276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問題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SCT-013 必須單獨夾在火線或中性線上；若夾在雙芯電源線（火線＋中性線），兩者磁場相消，輸出恆為 0。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" cy="2194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745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解決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8562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製作「分線測試線」或在配線箱內分離火線/中性線，讓感測器僅夾單一導線。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59152"/>
            <a:ext cx="850392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323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挑戰二：元件規格偏離標準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3464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問題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採購到 1kΩ（非標準 22Ω）負擔電阻；0.1μF（非標準 10μF）濾波電容，規格皆不符教科書設計。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36392"/>
            <a:ext cx="822960" cy="2194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3639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解決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3118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理論計算驗證 1kΩ 可放大 45 倍，適合 &lt; 2A 量測；軟體 HPF 補償電容不足的硬體濾波效果。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621024"/>
            <a:ext cx="850392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941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挑戰三：電子雜訊與 Wi-Fi 干擾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096512"/>
            <a:ext cx="822960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9651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問題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71600" y="407822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內建 Wi-Fi 模組在傳輸時對 ADC 產生電磁雜訊，類比訊號零點發生漂移。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98264"/>
            <a:ext cx="822960" cy="2194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9826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解決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71600" y="437997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選用 ADC1 的 GPIO 34（不受 Wi-Fi 干擾）；軟體 HPF 動態追蹤 DC 偏移；Noise Gate 0.05A 自動歸零。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　結論與未來展望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3931920" cy="38404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核心成果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182880" cy="1828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analogReadMilliVolts() 消除 ADC 非線性誤差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182880" cy="1828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659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1kΩ 負擔電阻放大 45 倍，小電流量測突破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182880" cy="1828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688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 HPF 動態濾除 1.65V DC 偏置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017520"/>
            <a:ext cx="182880" cy="1828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71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標準差連接偵測，避免感測器拔除誤判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520440"/>
            <a:ext cx="182880" cy="1828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74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Gate 自動濾除 &lt; 0.05A 虛假電流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1005840"/>
            <a:ext cx="39319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未來展望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92040" y="1508760"/>
            <a:ext cx="3931920" cy="8046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536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智慧自動化負載監測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19019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結合繼電器自動切斷冗餘電器、超載警報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468880"/>
            <a:ext cx="3931920" cy="8046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4963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IoT 雲端儀表板整合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28620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上傳 ThingsSpeak / Firebase / Home Assistant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3429000"/>
            <a:ext cx="3931920" cy="8046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4564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NILM 設備辨識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3822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/ SVM 分析波形特徵，辨識個別電器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434840"/>
            <a:ext cx="8366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預期節能成效：降低非必要待機能耗  15%–20%，協助達成 ESG 減碳目標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661</Words>
  <Application>Microsoft Office PowerPoint</Application>
  <PresentationFormat>如螢幕大小 (16:9)</PresentationFormat>
  <Paragraphs>181</Paragraphs>
  <Slides>14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SCT-013-000 與 ESP32 交流電流偵測系統</dc:title>
  <dc:subject>PptxGenJS Presentation</dc:subject>
  <dc:creator>ESP32 Energy Project</dc:creator>
  <cp:lastModifiedBy>user</cp:lastModifiedBy>
  <cp:revision>5</cp:revision>
  <dcterms:created xsi:type="dcterms:W3CDTF">2026-06-02T02:12:51Z</dcterms:created>
  <dcterms:modified xsi:type="dcterms:W3CDTF">2026-06-02T03:00:41Z</dcterms:modified>
</cp:coreProperties>
</file>